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7" r:id="rId2"/>
    <p:sldId id="259" r:id="rId3"/>
    <p:sldId id="267" r:id="rId4"/>
    <p:sldId id="261" r:id="rId5"/>
    <p:sldId id="269" r:id="rId6"/>
    <p:sldId id="264" r:id="rId7"/>
    <p:sldId id="271" r:id="rId8"/>
    <p:sldId id="258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3E7"/>
    <a:srgbClr val="0032A0"/>
    <a:srgbClr val="FF5124"/>
    <a:srgbClr val="D7572B"/>
    <a:srgbClr val="CF45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EF4E9-38F9-476B-9E70-9F823E8BF97F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AABC-0AA4-4E61-A4E3-0ECF43D0EF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45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1FAABC-0AA4-4E61-A4E3-0ECF43D0EF9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19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1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46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16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63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03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93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36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8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9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07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872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AC022-C4BD-4DE5-B6C6-2C8CA39FFCF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63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0"/>
            <a:ext cx="9144000" cy="1800225"/>
          </a:xfrm>
        </p:spPr>
        <p:txBody>
          <a:bodyPr>
            <a:no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 ВЫСШЕГО ОБРАЗОВАНИЯ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«САНКТ-ПЕТЕРБУРГСКИЙ ГОСУДАРСТВЕННЫЙ УНИВЕРСИТЕТ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ТЕЛЕКОММУНИКАЦИЙ ИМ. ПРОФ. М.А. БОНЧ-БРУЕВИЧА»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АРХАНГЕЛЬСКИЙ КОЛЛЕДЖ ТЕЛЕКОММУНИКАЦИЙ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ИМ. Б.Л. РОЗИНГА (ФИЛИАЛ) 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(АКТ (ф) 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14300" y="4905871"/>
            <a:ext cx="3838575" cy="646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Студент группы ИСПП-</a:t>
            </a:r>
            <a:r>
              <a:rPr lang="en-US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2</a:t>
            </a:r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1: Поршнев Артём Николаевич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Руководитель: Старостина Вера Валерьевна</a:t>
            </a: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5283993" y="6469063"/>
            <a:ext cx="1624013" cy="38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Архангельск, 2026</a:t>
            </a: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-1" y="1999060"/>
            <a:ext cx="5513561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Дипломный проект 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8"/>
            <a:ext cx="1486937" cy="1811497"/>
          </a:xfrm>
          <a:prstGeom prst="rect">
            <a:avLst/>
          </a:prstGeom>
        </p:spPr>
      </p:pic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41CB636C-574D-4920-ECDE-94C2AE297F13}"/>
              </a:ext>
            </a:extLst>
          </p:cNvPr>
          <p:cNvSpPr txBox="1">
            <a:spLocks/>
          </p:cNvSpPr>
          <p:nvPr/>
        </p:nvSpPr>
        <p:spPr>
          <a:xfrm>
            <a:off x="738186" y="3188295"/>
            <a:ext cx="7971248" cy="1336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360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Разработка информационной системы для подачи заявок на мероприятия службы занятости</a:t>
            </a:r>
            <a:endParaRPr lang="ru-RU" sz="3600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8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 descr="Изображение выглядит как графическая вставка, белый, мультфильм, силуэ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FAD6FC-F629-96AE-9B62-02C8DFC889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296" y="2918048"/>
            <a:ext cx="1021904" cy="1021904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шестерня, металлоизделия, транспор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5AC8EC-8870-B332-A974-1A3339AFD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373" y="4329115"/>
            <a:ext cx="977229" cy="97722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3C7546-62DB-B932-F09B-B6073EE60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6451" y="4899657"/>
            <a:ext cx="1486937" cy="1811498"/>
          </a:xfrm>
          <a:prstGeom prst="rect">
            <a:avLst/>
          </a:prstGeom>
        </p:spPr>
      </p:pic>
      <p:sp>
        <p:nvSpPr>
          <p:cNvPr id="7" name="Подзаголовок 2"/>
          <p:cNvSpPr txBox="1">
            <a:spLocks/>
          </p:cNvSpPr>
          <p:nvPr/>
        </p:nvSpPr>
        <p:spPr>
          <a:xfrm>
            <a:off x="4071418" y="0"/>
            <a:ext cx="4049161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Актуальность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A3D82-1ADF-902E-C54A-19EB36D7B20C}"/>
              </a:ext>
            </a:extLst>
          </p:cNvPr>
          <p:cNvSpPr txBox="1"/>
          <p:nvPr/>
        </p:nvSpPr>
        <p:spPr>
          <a:xfrm>
            <a:off x="2104075" y="3105835"/>
            <a:ext cx="694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Повышение доступности услуг для граждан</a:t>
            </a:r>
            <a:endParaRPr lang="ru-RU" sz="36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F77D1-5EAD-C091-C003-6E4347443168}"/>
              </a:ext>
            </a:extLst>
          </p:cNvPr>
          <p:cNvSpPr txBox="1"/>
          <p:nvPr/>
        </p:nvSpPr>
        <p:spPr>
          <a:xfrm>
            <a:off x="3280001" y="4493646"/>
            <a:ext cx="6221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Оптимизация работы службы занятости</a:t>
            </a:r>
            <a:endParaRPr lang="ru-RU" sz="36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6C2A0-8CBE-4F24-106F-CF0E012C117F}"/>
              </a:ext>
            </a:extLst>
          </p:cNvPr>
          <p:cNvSpPr txBox="1"/>
          <p:nvPr/>
        </p:nvSpPr>
        <p:spPr>
          <a:xfrm>
            <a:off x="1675227" y="1718024"/>
            <a:ext cx="8841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Интеграция с существующими цифровыми платформами</a:t>
            </a:r>
            <a:endParaRPr lang="ru-RU" sz="36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0" name="Рисунок 9" descr="Изображение выглядит как символ, Цвет электрик, снимок экран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6AEF92-521D-7033-9207-B7654233E7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46" y="1657733"/>
            <a:ext cx="766916" cy="7669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7E51A18-DDBD-F708-21E8-73981E3816F8}"/>
              </a:ext>
            </a:extLst>
          </p:cNvPr>
          <p:cNvSpPr txBox="1"/>
          <p:nvPr/>
        </p:nvSpPr>
        <p:spPr>
          <a:xfrm>
            <a:off x="9281685" y="5941714"/>
            <a:ext cx="867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2/7</a:t>
            </a:r>
            <a:endParaRPr lang="ru-RU" sz="44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68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B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CCE02B-3A24-4FFB-8FAA-F5EEDB944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8"/>
            <a:ext cx="1486937" cy="1811498"/>
          </a:xfrm>
          <a:prstGeom prst="rect">
            <a:avLst/>
          </a:prstGeom>
        </p:spPr>
      </p:pic>
      <p:sp>
        <p:nvSpPr>
          <p:cNvPr id="4" name="Подзаголовок 2"/>
          <p:cNvSpPr txBox="1">
            <a:spLocks/>
          </p:cNvSpPr>
          <p:nvPr/>
        </p:nvSpPr>
        <p:spPr>
          <a:xfrm>
            <a:off x="3200400" y="0"/>
            <a:ext cx="579119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rgbClr val="0032A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Целевая аудитория</a:t>
            </a:r>
          </a:p>
        </p:txBody>
      </p:sp>
      <p:pic>
        <p:nvPicPr>
          <p:cNvPr id="7" name="Рисунок 6" descr="Изображение выглядит как зарисовка, графическая встав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491C60-395A-650F-DF53-57BE67F41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34" y="2451085"/>
            <a:ext cx="1013642" cy="1013642"/>
          </a:xfrm>
          <a:prstGeom prst="rect">
            <a:avLst/>
          </a:prstGeom>
        </p:spPr>
      </p:pic>
      <p:pic>
        <p:nvPicPr>
          <p:cNvPr id="9" name="Рисунок 8" descr="Изображение выглядит как Графика, снимок экрана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E03CB0-C374-CAFE-E644-6A5F328A4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61" y="4885284"/>
            <a:ext cx="920123" cy="920123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205A82-B861-A390-1E7F-59447E3E2F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62" y="3714944"/>
            <a:ext cx="920123" cy="920123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Шрифт, Графика, символ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2223B8-536C-DBAB-3355-5E902B4F55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62" y="1280745"/>
            <a:ext cx="920123" cy="9201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02081D-7F9D-EFC2-CD29-BB81458948AC}"/>
              </a:ext>
            </a:extLst>
          </p:cNvPr>
          <p:cNvSpPr txBox="1"/>
          <p:nvPr/>
        </p:nvSpPr>
        <p:spPr>
          <a:xfrm>
            <a:off x="2047081" y="2588576"/>
            <a:ext cx="54676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Сотрудники службы занятости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19CA41-3F28-3058-ADA1-4011ECE108B9}"/>
              </a:ext>
            </a:extLst>
          </p:cNvPr>
          <p:cNvSpPr txBox="1"/>
          <p:nvPr/>
        </p:nvSpPr>
        <p:spPr>
          <a:xfrm>
            <a:off x="2046065" y="5036008"/>
            <a:ext cx="25983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Работодатели</a:t>
            </a:r>
            <a:endParaRPr lang="ru-RU" sz="36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651B68-2388-7116-C341-22C60DC03DB5}"/>
              </a:ext>
            </a:extLst>
          </p:cNvPr>
          <p:cNvSpPr txBox="1"/>
          <p:nvPr/>
        </p:nvSpPr>
        <p:spPr>
          <a:xfrm>
            <a:off x="2046065" y="3812292"/>
            <a:ext cx="39744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Студенты и учащиеся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748995-A295-9AA7-1EAD-2EE638F6DCD8}"/>
              </a:ext>
            </a:extLst>
          </p:cNvPr>
          <p:cNvSpPr txBox="1"/>
          <p:nvPr/>
        </p:nvSpPr>
        <p:spPr>
          <a:xfrm>
            <a:off x="2047081" y="1386864"/>
            <a:ext cx="82467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Люди, находящиеся в активном поиске работы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584D7A-ACBC-76A9-2748-1642BA717768}"/>
              </a:ext>
            </a:extLst>
          </p:cNvPr>
          <p:cNvSpPr txBox="1"/>
          <p:nvPr/>
        </p:nvSpPr>
        <p:spPr>
          <a:xfrm>
            <a:off x="9281684" y="5941714"/>
            <a:ext cx="8853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rgbClr val="0032A0"/>
                </a:solidFill>
                <a:latin typeface="Bahnschrift Condensed" panose="020B0502040204020203" pitchFamily="34" charset="0"/>
              </a:rPr>
              <a:t>3</a:t>
            </a:r>
            <a:r>
              <a:rPr lang="ru-RU" sz="4400" b="1" i="0" dirty="0">
                <a:solidFill>
                  <a:srgbClr val="0032A0"/>
                </a:solidFill>
                <a:effectLst/>
                <a:latin typeface="Bahnschrift Condensed" panose="020B0502040204020203" pitchFamily="34" charset="0"/>
              </a:rPr>
              <a:t>/7</a:t>
            </a:r>
            <a:endParaRPr lang="ru-RU" sz="44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49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F2B1AE-ABEE-ADA5-C4EE-4AD6A7E59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7"/>
            <a:ext cx="1486937" cy="1811498"/>
          </a:xfrm>
          <a:prstGeom prst="rect">
            <a:avLst/>
          </a:prstGeom>
        </p:spPr>
      </p:pic>
      <p:sp>
        <p:nvSpPr>
          <p:cNvPr id="12" name="Подзаголовок 2"/>
          <p:cNvSpPr txBox="1">
            <a:spLocks/>
          </p:cNvSpPr>
          <p:nvPr/>
        </p:nvSpPr>
        <p:spPr>
          <a:xfrm>
            <a:off x="5724812" y="-1"/>
            <a:ext cx="579119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Цель и задачи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одежда, человек, Человеческое лицо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1C11F4-F1B5-C05E-D21F-1B4DF284D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115208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E32447-02E1-EED9-D3C1-BFFF79179888}"/>
              </a:ext>
            </a:extLst>
          </p:cNvPr>
          <p:cNvSpPr txBox="1"/>
          <p:nvPr/>
        </p:nvSpPr>
        <p:spPr>
          <a:xfrm>
            <a:off x="5115208" y="903143"/>
            <a:ext cx="70767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Требуется разработать информационную систему для подачи заявок на мероприятия службы занятости.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306D31-55A7-7434-0C92-AB21190D91F4}"/>
              </a:ext>
            </a:extLst>
          </p:cNvPr>
          <p:cNvSpPr txBox="1"/>
          <p:nvPr/>
        </p:nvSpPr>
        <p:spPr>
          <a:xfrm>
            <a:off x="9216428" y="5941714"/>
            <a:ext cx="8517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4</a:t>
            </a:r>
            <a:r>
              <a:rPr lang="ru-RU" sz="4400" b="1" i="0" dirty="0"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/7</a:t>
            </a:r>
            <a:endParaRPr lang="ru-RU" sz="44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4" name="Рисунок 3" descr="Изображение выглядит как текст, График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2182FC-2CF6-7284-654D-C9AE569E2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355" y="2103472"/>
            <a:ext cx="523221" cy="5232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014CFB-F704-86F7-B0C3-BDC709668598}"/>
              </a:ext>
            </a:extLst>
          </p:cNvPr>
          <p:cNvSpPr txBox="1"/>
          <p:nvPr/>
        </p:nvSpPr>
        <p:spPr>
          <a:xfrm>
            <a:off x="5975250" y="1918806"/>
            <a:ext cx="610417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Проанализировать требования и определить функциональность веб-приложения</a:t>
            </a:r>
          </a:p>
        </p:txBody>
      </p:sp>
      <p:pic>
        <p:nvPicPr>
          <p:cNvPr id="11" name="Рисунок 10" descr="Изображение выглядит как символ, логотип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38C857-03D8-A1F7-F02C-623D949395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355" y="3028315"/>
            <a:ext cx="523221" cy="5232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B80A99-6194-1CA9-3A3B-515294C1C60B}"/>
              </a:ext>
            </a:extLst>
          </p:cNvPr>
          <p:cNvSpPr txBox="1"/>
          <p:nvPr/>
        </p:nvSpPr>
        <p:spPr>
          <a:xfrm>
            <a:off x="5975244" y="2843650"/>
            <a:ext cx="590194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Спроектировать архитектуру приложения и структуру базы данных</a:t>
            </a:r>
          </a:p>
        </p:txBody>
      </p:sp>
      <p:pic>
        <p:nvPicPr>
          <p:cNvPr id="16" name="Рисунок 15" descr="Изображение выглядит как символ, Шриф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6F9903-DB24-BD2E-5CE6-C27C93FBB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356" y="3942485"/>
            <a:ext cx="523220" cy="5232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ADFA15D-6A68-D474-6061-4FE25AF1FED2}"/>
              </a:ext>
            </a:extLst>
          </p:cNvPr>
          <p:cNvSpPr txBox="1"/>
          <p:nvPr/>
        </p:nvSpPr>
        <p:spPr>
          <a:xfrm>
            <a:off x="5975245" y="3942485"/>
            <a:ext cx="59019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Разработать веб-интерфейс и бизнес-логику</a:t>
            </a:r>
          </a:p>
        </p:txBody>
      </p:sp>
    </p:spTree>
    <p:extLst>
      <p:ext uri="{BB962C8B-B14F-4D97-AF65-F5344CB8AC3E}">
        <p14:creationId xmlns:p14="http://schemas.microsoft.com/office/powerpoint/2010/main" val="220863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B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451" y="4899658"/>
            <a:ext cx="1486937" cy="1811498"/>
          </a:xfrm>
          <a:prstGeom prst="rect">
            <a:avLst/>
          </a:prstGeom>
        </p:spPr>
      </p:pic>
      <p:sp>
        <p:nvSpPr>
          <p:cNvPr id="12" name="Подзаголовок 2"/>
          <p:cNvSpPr txBox="1">
            <a:spLocks/>
          </p:cNvSpPr>
          <p:nvPr/>
        </p:nvSpPr>
        <p:spPr>
          <a:xfrm>
            <a:off x="1975307" y="0"/>
            <a:ext cx="8241386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rgbClr val="0032A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Выбор средств разработки</a:t>
            </a:r>
            <a:endParaRPr lang="en-US" sz="6600" b="1" dirty="0">
              <a:solidFill>
                <a:srgbClr val="0032A0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134" y="1245968"/>
            <a:ext cx="2630090" cy="263009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340" y="1675062"/>
            <a:ext cx="1627111" cy="162710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433" y="3909243"/>
            <a:ext cx="1627110" cy="162710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396" y="1461783"/>
            <a:ext cx="2066927" cy="219845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816" y="3996269"/>
            <a:ext cx="1490815" cy="14908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8ACB55-2EE8-44E8-BE5C-F3BF3C39D5D3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i="0" dirty="0">
                <a:solidFill>
                  <a:srgbClr val="0032A0"/>
                </a:solidFill>
                <a:effectLst/>
                <a:latin typeface="Bahnschrift Condensed" panose="020B0502040204020203" pitchFamily="34" charset="0"/>
              </a:rPr>
              <a:t>5/7</a:t>
            </a:r>
            <a:endParaRPr lang="ru-RU" sz="44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88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B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4B85721-2AFB-373B-BAC1-345E3080735F}"/>
              </a:ext>
            </a:extLst>
          </p:cNvPr>
          <p:cNvSpPr txBox="1">
            <a:spLocks/>
          </p:cNvSpPr>
          <p:nvPr/>
        </p:nvSpPr>
        <p:spPr>
          <a:xfrm>
            <a:off x="1089391" y="73422"/>
            <a:ext cx="906779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b="1" dirty="0">
                <a:solidFill>
                  <a:srgbClr val="0032A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Преимущества разработанного ПО</a:t>
            </a:r>
            <a:endParaRPr lang="en-US" sz="6000" b="1" dirty="0">
              <a:solidFill>
                <a:srgbClr val="0032A0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16E750BA-90A8-BEE1-AF70-5F27EAD4EFC1}"/>
              </a:ext>
            </a:extLst>
          </p:cNvPr>
          <p:cNvSpPr txBox="1"/>
          <p:nvPr/>
        </p:nvSpPr>
        <p:spPr>
          <a:xfrm>
            <a:off x="2040004" y="1544051"/>
            <a:ext cx="50574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Удобство и доступность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0022F660-66E2-C665-A74C-556BC70D47A4}"/>
              </a:ext>
            </a:extLst>
          </p:cNvPr>
          <p:cNvSpPr txBox="1"/>
          <p:nvPr/>
        </p:nvSpPr>
        <p:spPr>
          <a:xfrm>
            <a:off x="2106660" y="2890064"/>
            <a:ext cx="70332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Упрощение процесса подачи заявок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2E3C8B9-5E86-F8A0-0640-B463E00538C7}"/>
              </a:ext>
            </a:extLst>
          </p:cNvPr>
          <p:cNvSpPr txBox="1"/>
          <p:nvPr/>
        </p:nvSpPr>
        <p:spPr>
          <a:xfrm>
            <a:off x="2106660" y="4236078"/>
            <a:ext cx="70332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Экономия времени и ресурсов</a:t>
            </a:r>
          </a:p>
        </p:txBody>
      </p:sp>
      <p:pic>
        <p:nvPicPr>
          <p:cNvPr id="21" name="Рисунок 20" descr="Изображение выглядит как Графика, графическая вставка, Красочность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8066F5-7648-7171-D10E-692809F9C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22" y="1441574"/>
            <a:ext cx="974394" cy="974394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символ, График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3D160D-45DE-BBC6-E4BB-C7278BC3A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21" y="2787589"/>
            <a:ext cx="974394" cy="974392"/>
          </a:xfrm>
          <a:prstGeom prst="rect">
            <a:avLst/>
          </a:prstGeom>
        </p:spPr>
      </p:pic>
      <p:pic>
        <p:nvPicPr>
          <p:cNvPr id="27" name="Рисунок 26" descr="Изображение выглядит как символ, График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99E091-2BAF-6083-35CA-CA45182CF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22" y="4133603"/>
            <a:ext cx="974393" cy="97439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EEFFFCE-50C4-08DE-0588-25450634C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6451" y="4899658"/>
            <a:ext cx="1486937" cy="181149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5AAFABF-2D0B-420C-36CB-F045BFF058D8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32A0"/>
                </a:solidFill>
                <a:latin typeface="Bahnschrift Condensed" panose="020B0502040204020203" pitchFamily="34" charset="0"/>
              </a:rPr>
              <a:t>6</a:t>
            </a:r>
            <a:r>
              <a:rPr lang="ru-RU" sz="4400" b="1" i="0" dirty="0">
                <a:solidFill>
                  <a:srgbClr val="0032A0"/>
                </a:solidFill>
                <a:effectLst/>
                <a:latin typeface="Bahnschrift Condensed" panose="020B0502040204020203" pitchFamily="34" charset="0"/>
              </a:rPr>
              <a:t>/7</a:t>
            </a:r>
            <a:endParaRPr lang="ru-RU" sz="44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824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B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E2D2F4E-6AA7-C060-8588-8E54391BD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8"/>
            <a:ext cx="1486937" cy="1811498"/>
          </a:xfrm>
          <a:prstGeom prst="rect">
            <a:avLst/>
          </a:prstGeom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4181475" y="0"/>
            <a:ext cx="3829048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b="1" dirty="0">
                <a:solidFill>
                  <a:srgbClr val="0032A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DC4B8-3BAA-3881-10A7-5FDFA2F31E27}"/>
              </a:ext>
            </a:extLst>
          </p:cNvPr>
          <p:cNvSpPr txBox="1"/>
          <p:nvPr/>
        </p:nvSpPr>
        <p:spPr>
          <a:xfrm>
            <a:off x="9281685" y="5941714"/>
            <a:ext cx="786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i="0" dirty="0">
                <a:solidFill>
                  <a:srgbClr val="0032A0"/>
                </a:solidFill>
                <a:effectLst/>
                <a:latin typeface="Bahnschrift Condensed" panose="020B0502040204020203" pitchFamily="34" charset="0"/>
              </a:rPr>
              <a:t>7/7</a:t>
            </a:r>
            <a:endParaRPr lang="ru-RU" sz="4400" dirty="0">
              <a:solidFill>
                <a:srgbClr val="0032A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C54E7-0900-11F9-E9E7-739E2C2A8EEE}"/>
              </a:ext>
            </a:extLst>
          </p:cNvPr>
          <p:cNvSpPr txBox="1"/>
          <p:nvPr/>
        </p:nvSpPr>
        <p:spPr>
          <a:xfrm>
            <a:off x="1016721" y="1421783"/>
            <a:ext cx="935973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В ходе дипломного проектирования создана функциональная и удобная в использовании информационная система</a:t>
            </a:r>
            <a:r>
              <a:rPr lang="ru-RU" sz="4400">
                <a:solidFill>
                  <a:srgbClr val="0032A0"/>
                </a:solidFill>
                <a:latin typeface="Bahnschrift Condensed" panose="020B0502040204020203" pitchFamily="34" charset="0"/>
              </a:rPr>
              <a:t>, обеспечивающая </a:t>
            </a:r>
            <a:r>
              <a:rPr lang="ru-RU" sz="4400" dirty="0">
                <a:solidFill>
                  <a:srgbClr val="0032A0"/>
                </a:solidFill>
                <a:latin typeface="Bahnschrift Condensed" panose="020B0502040204020203" pitchFamily="34" charset="0"/>
              </a:rPr>
              <a:t>пользователю простоту подачи заявок на мероприятия службы занятости.</a:t>
            </a:r>
          </a:p>
        </p:txBody>
      </p:sp>
    </p:spTree>
    <p:extLst>
      <p:ext uri="{BB962C8B-B14F-4D97-AF65-F5344CB8AC3E}">
        <p14:creationId xmlns:p14="http://schemas.microsoft.com/office/powerpoint/2010/main" val="2594082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0"/>
            <a:ext cx="9144000" cy="1800225"/>
          </a:xfrm>
        </p:spPr>
        <p:txBody>
          <a:bodyPr>
            <a:no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 ВЫСШЕГО ОБРАЗОВАНИЯ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«САНКТ-ПЕТЕРБУРГСКИЙ ГОСУДАРСТВЕННЫЙ УНИВЕРСИТЕТ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ТЕЛЕКОММУНИКАЦИЙ ИМ. ПРОФ. М.А. БОНЧ-БРУЕВИЧА»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АРХАНГЕЛЬСКИЙ КОЛЛЕДЖ ТЕЛЕКОММУНИКАЦИЙ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ИМ. Б.Л. РОЗИНГА (ФИЛИАЛ) 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 </a:t>
            </a:r>
            <a:br>
              <a:rPr lang="en-US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(АКТ (ф) </a:t>
            </a:r>
            <a:r>
              <a:rPr lang="ru-RU" sz="1400" b="1" dirty="0" err="1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38186" y="3188295"/>
            <a:ext cx="7971248" cy="1336080"/>
          </a:xfrm>
        </p:spPr>
        <p:txBody>
          <a:bodyPr>
            <a:noAutofit/>
          </a:bodyPr>
          <a:lstStyle/>
          <a:p>
            <a:pPr algn="l">
              <a:lnSpc>
                <a:spcPct val="114000"/>
              </a:lnSpc>
            </a:pPr>
            <a:r>
              <a:rPr lang="ru-RU" sz="3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Разработка информационной системы для подачи заявок на мероприятия службы занятости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14300" y="4905871"/>
            <a:ext cx="3838575" cy="646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Студент группы ИСПП-</a:t>
            </a:r>
            <a:r>
              <a:rPr lang="en-US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2</a:t>
            </a:r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1: Поршнев Артём Николаевич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Руководитель: Старостина Вера Валерьевна</a:t>
            </a: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5283993" y="6469063"/>
            <a:ext cx="1624013" cy="38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Архангельск, 2026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451" y="4899658"/>
            <a:ext cx="1486937" cy="1811497"/>
          </a:xfrm>
          <a:prstGeom prst="rect">
            <a:avLst/>
          </a:prstGeom>
        </p:spPr>
      </p:pic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9ADF9944-41AA-C731-D580-7005E3E45E87}"/>
              </a:ext>
            </a:extLst>
          </p:cNvPr>
          <p:cNvSpPr txBox="1">
            <a:spLocks/>
          </p:cNvSpPr>
          <p:nvPr/>
        </p:nvSpPr>
        <p:spPr>
          <a:xfrm>
            <a:off x="-1" y="1999060"/>
            <a:ext cx="5513561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Дипломный проект 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301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Words>276</Words>
  <Application>Microsoft Office PowerPoint</Application>
  <PresentationFormat>Широкоэкранный</PresentationFormat>
  <Paragraphs>40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Bahnschrift Condensed</vt:lpstr>
      <vt:lpstr>Calibri</vt:lpstr>
      <vt:lpstr>Calibri Light</vt:lpstr>
      <vt:lpstr>Тема Office</vt:lpstr>
      <vt:lpstr>ФЕДЕРАЛЬНОЕ ГОСУДАРСТВЕННОЕ БЮДЖЕТНОЕ ОБРАЗОВАТЕЛЬНОЕ УЧРЕЖДЕНИЕ ВЫСШЕГО ОБРАЗОВАНИЯ  «САНКТ-ПЕТЕРБУРГСКИЙ ГОСУДАРСТВЕННЫЙ УНИВЕРСИТЕТ  ТЕЛЕКОММУНИКАЦИЙ ИМ. ПРОФ. М.А. БОНЧ-БРУЕВИЧА»  (СПбГУТ)   АРХАНГЕЛЬСКИЙ КОЛЛЕДЖ ТЕЛЕКОММУНИКАЦИЙ  ИМ. Б.Л. РОЗИНГА (ФИЛИАЛ) СПбГУТ  (АКТ (ф) СПбГУТ)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ФЕДЕРАЛЬНОЕ ГОСУДАРСТВЕННОЕ БЮДЖЕТНОЕ ОБРАЗОВАТЕЛЬНОЕ УЧРЕЖДЕНИЕ ВЫСШЕГО ОБРАЗОВАНИЯ  «САНКТ-ПЕТЕРБУРГСКИЙ ГОСУДАРСТВЕННЫЙ УНИВЕРСИТЕТ  ТЕЛЕКОММУНИКАЦИЙ ИМ. ПРОФ. М.А. БОНЧ-БРУЕВИЧА»  (СПбГУТ)   АРХАНГЕЛЬСКИЙ КОЛЛЕДЖ ТЕЛЕКОММУНИКАЦИЙ  ИМ. Б.Л. РОЗИНГА (ФИЛИАЛ) СПбГУТ  (АКТ (ф) СПбГУТ) </vt:lpstr>
    </vt:vector>
  </TitlesOfParts>
  <Company>АКТ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0109-13</dc:creator>
  <cp:lastModifiedBy>Артём Поршнев</cp:lastModifiedBy>
  <cp:revision>26</cp:revision>
  <dcterms:created xsi:type="dcterms:W3CDTF">2025-12-01T08:18:07Z</dcterms:created>
  <dcterms:modified xsi:type="dcterms:W3CDTF">2026-06-15T20:34:54Z</dcterms:modified>
</cp:coreProperties>
</file>